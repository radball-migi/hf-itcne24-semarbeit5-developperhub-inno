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9" r:id="rId6"/>
    <p:sldId id="258" r:id="rId7"/>
    <p:sldId id="257" r:id="rId8"/>
    <p:sldId id="260" r:id="rId9"/>
    <p:sldId id="263" r:id="rId10"/>
    <p:sldId id="264" r:id="rId11"/>
    <p:sldId id="265" r:id="rId12"/>
    <p:sldId id="266" r:id="rId13"/>
    <p:sldId id="272" r:id="rId14"/>
    <p:sldId id="273" r:id="rId15"/>
    <p:sldId id="274" r:id="rId16"/>
    <p:sldId id="271" r:id="rId17"/>
    <p:sldId id="270" r:id="rId18"/>
    <p:sldId id="267" r:id="rId19"/>
    <p:sldId id="269" r:id="rId20"/>
  </p:sldIdLst>
  <p:sldSz cx="12192000" cy="6858000"/>
  <p:notesSz cx="6797675" cy="9928225"/>
  <p:embeddedFontLst>
    <p:embeddedFont>
      <p:font typeface="Mongolian Baiti" panose="03000500000000000000" pitchFamily="66" charset="0"/>
      <p:regular r:id="rId23"/>
    </p:embeddedFont>
    <p:embeddedFont>
      <p:font typeface="Viner Hand ITC" panose="03070502030502020203" pitchFamily="66" charset="0"/>
      <p:regular r:id="rId24"/>
    </p:embeddedFont>
    <p:embeddedFont>
      <p:font typeface="Zurich Cn BT" panose="020B0506020202040204" pitchFamily="34" charset="0"/>
      <p:regular r:id="rId25"/>
      <p:bold r:id="rId26"/>
      <p:italic r:id="rId27"/>
      <p:boldItalic r:id="rId28"/>
    </p:embeddedFont>
    <p:embeddedFont>
      <p:font typeface="Zurich LtCn BT" panose="020B0406020202040204" pitchFamily="34" charset="0"/>
      <p:regular r:id="rId29"/>
      <p:italic r:id="rId30"/>
    </p:embeddedFont>
  </p:embeddedFontLst>
  <p:custDataLst>
    <p:tags r:id="rId31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5E"/>
    <a:srgbClr val="D4AF37"/>
    <a:srgbClr val="FFD700"/>
    <a:srgbClr val="27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EAC096-0B20-4E27-AB31-8C8A8C391CA8}" v="17" dt="2026-07-07T19:56:20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80292" autoAdjust="0"/>
  </p:normalViewPr>
  <p:slideViewPr>
    <p:cSldViewPr>
      <p:cViewPr>
        <p:scale>
          <a:sx n="58" d="100"/>
          <a:sy n="58" d="100"/>
        </p:scale>
        <p:origin x="1012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undo redo custSel addSld delSld modSld sldOrd">
      <pc:chgData name="Schneider Miguel" userId="edc340df-3076-41de-a4cb-06d04631cff4" providerId="ADAL" clId="{B83A4F97-F95D-462C-8A14-C92DB3EE3C5A}" dt="2026-07-07T19:56:23.994" v="2104"/>
      <pc:docMkLst>
        <pc:docMk/>
      </pc:docMkLst>
      <pc:sldChg chg="modSp add mod modTransition setBg">
        <pc:chgData name="Schneider Miguel" userId="edc340df-3076-41de-a4cb-06d04631cff4" providerId="ADAL" clId="{B83A4F97-F95D-462C-8A14-C92DB3EE3C5A}" dt="2026-07-07T19:25:12.319" v="1475" actId="20577"/>
        <pc:sldMkLst>
          <pc:docMk/>
          <pc:sldMk cId="2162806361" sldId="257"/>
        </pc:sldMkLst>
        <pc:spChg chg="mod">
          <ac:chgData name="Schneider Miguel" userId="edc340df-3076-41de-a4cb-06d04631cff4" providerId="ADAL" clId="{B83A4F97-F95D-462C-8A14-C92DB3EE3C5A}" dt="2026-07-07T19:25:12.319" v="1475" actId="20577"/>
          <ac:spMkLst>
            <pc:docMk/>
            <pc:sldMk cId="2162806361" sldId="257"/>
            <ac:spMk id="6146" creationId="{4278D36C-8B88-C6B1-9A80-37BCAF8A9AA2}"/>
          </ac:spMkLst>
        </pc:spChg>
      </pc:sldChg>
      <pc:sldChg chg="modSp mod">
        <pc:chgData name="Schneider Miguel" userId="edc340df-3076-41de-a4cb-06d04631cff4" providerId="ADAL" clId="{B83A4F97-F95D-462C-8A14-C92DB3EE3C5A}" dt="2026-07-07T19:46:25.668" v="2000" actId="113"/>
        <pc:sldMkLst>
          <pc:docMk/>
          <pc:sldMk cId="1073310647" sldId="267"/>
        </pc:sldMkLst>
        <pc:spChg chg="mod">
          <ac:chgData name="Schneider Miguel" userId="edc340df-3076-41de-a4cb-06d04631cff4" providerId="ADAL" clId="{B83A4F97-F95D-462C-8A14-C92DB3EE3C5A}" dt="2026-07-07T19:46:25.668" v="2000" actId="113"/>
          <ac:spMkLst>
            <pc:docMk/>
            <pc:sldMk cId="1073310647" sldId="267"/>
            <ac:spMk id="2" creationId="{A969DACD-B33E-A58B-D35C-42211EEA2F64}"/>
          </ac:spMkLst>
        </pc:spChg>
      </pc:sldChg>
      <pc:sldChg chg="modSp new mod modAnim">
        <pc:chgData name="Schneider Miguel" userId="edc340df-3076-41de-a4cb-06d04631cff4" providerId="ADAL" clId="{B83A4F97-F95D-462C-8A14-C92DB3EE3C5A}" dt="2026-07-07T19:30:54.882" v="1925"/>
        <pc:sldMkLst>
          <pc:docMk/>
          <pc:sldMk cId="1063857843" sldId="270"/>
        </pc:sldMkLst>
        <pc:spChg chg="mod">
          <ac:chgData name="Schneider Miguel" userId="edc340df-3076-41de-a4cb-06d04631cff4" providerId="ADAL" clId="{B83A4F97-F95D-462C-8A14-C92DB3EE3C5A}" dt="2026-07-07T19:30:34.723" v="1922" actId="20578"/>
          <ac:spMkLst>
            <pc:docMk/>
            <pc:sldMk cId="1063857843" sldId="270"/>
            <ac:spMk id="2" creationId="{BFA5677C-B4CF-AB6D-8E77-8CC7234E5E16}"/>
          </ac:spMkLst>
        </pc:spChg>
        <pc:spChg chg="mod">
          <ac:chgData name="Schneider Miguel" userId="edc340df-3076-41de-a4cb-06d04631cff4" providerId="ADAL" clId="{B83A4F97-F95D-462C-8A14-C92DB3EE3C5A}" dt="2026-07-07T19:26:14.591" v="1481" actId="20577"/>
          <ac:spMkLst>
            <pc:docMk/>
            <pc:sldMk cId="1063857843" sldId="270"/>
            <ac:spMk id="3" creationId="{9FB90FA1-BF0E-1098-A806-AA1CF306D458}"/>
          </ac:spMkLst>
        </pc:spChg>
      </pc:sldChg>
      <pc:sldChg chg="modSp new mod">
        <pc:chgData name="Schneider Miguel" userId="edc340df-3076-41de-a4cb-06d04631cff4" providerId="ADAL" clId="{B83A4F97-F95D-462C-8A14-C92DB3EE3C5A}" dt="2026-07-07T19:32:28.646" v="1938" actId="20577"/>
        <pc:sldMkLst>
          <pc:docMk/>
          <pc:sldMk cId="1081224733" sldId="271"/>
        </pc:sldMkLst>
        <pc:spChg chg="mod">
          <ac:chgData name="Schneider Miguel" userId="edc340df-3076-41de-a4cb-06d04631cff4" providerId="ADAL" clId="{B83A4F97-F95D-462C-8A14-C92DB3EE3C5A}" dt="2026-07-07T19:32:28.646" v="1938" actId="20577"/>
          <ac:spMkLst>
            <pc:docMk/>
            <pc:sldMk cId="1081224733" sldId="271"/>
            <ac:spMk id="2" creationId="{C5592E12-D42A-8F9A-3771-ED61ECAFEB6C}"/>
          </ac:spMkLst>
        </pc:spChg>
      </pc:sldChg>
      <pc:sldChg chg="new del">
        <pc:chgData name="Schneider Miguel" userId="edc340df-3076-41de-a4cb-06d04631cff4" providerId="ADAL" clId="{B83A4F97-F95D-462C-8A14-C92DB3EE3C5A}" dt="2026-07-07T19:32:17.837" v="1927" actId="2696"/>
        <pc:sldMkLst>
          <pc:docMk/>
          <pc:sldMk cId="4056830218" sldId="271"/>
        </pc:sldMkLst>
      </pc:sldChg>
      <pc:sldChg chg="modSp new mod">
        <pc:chgData name="Schneider Miguel" userId="edc340df-3076-41de-a4cb-06d04631cff4" providerId="ADAL" clId="{B83A4F97-F95D-462C-8A14-C92DB3EE3C5A}" dt="2026-07-07T19:49:09.946" v="2012"/>
        <pc:sldMkLst>
          <pc:docMk/>
          <pc:sldMk cId="1484259139" sldId="272"/>
        </pc:sldMkLst>
        <pc:spChg chg="mod">
          <ac:chgData name="Schneider Miguel" userId="edc340df-3076-41de-a4cb-06d04631cff4" providerId="ADAL" clId="{B83A4F97-F95D-462C-8A14-C92DB3EE3C5A}" dt="2026-07-07T19:49:09.946" v="2012"/>
          <ac:spMkLst>
            <pc:docMk/>
            <pc:sldMk cId="1484259139" sldId="272"/>
            <ac:spMk id="2" creationId="{59598D5D-5EC8-AB09-46C2-7CD02C900CEE}"/>
          </ac:spMkLst>
        </pc:spChg>
        <pc:spChg chg="mod">
          <ac:chgData name="Schneider Miguel" userId="edc340df-3076-41de-a4cb-06d04631cff4" providerId="ADAL" clId="{B83A4F97-F95D-462C-8A14-C92DB3EE3C5A}" dt="2026-07-07T19:48:23.777" v="2011" actId="20577"/>
          <ac:spMkLst>
            <pc:docMk/>
            <pc:sldMk cId="1484259139" sldId="272"/>
            <ac:spMk id="3" creationId="{9C13FF75-03E6-B82D-E995-2684162B82CA}"/>
          </ac:spMkLst>
        </pc:spChg>
      </pc:sldChg>
      <pc:sldChg chg="addSp delSp modSp new mod addAnim delAnim modAnim">
        <pc:chgData name="Schneider Miguel" userId="edc340df-3076-41de-a4cb-06d04631cff4" providerId="ADAL" clId="{B83A4F97-F95D-462C-8A14-C92DB3EE3C5A}" dt="2026-07-07T19:52:27.969" v="2070"/>
        <pc:sldMkLst>
          <pc:docMk/>
          <pc:sldMk cId="4031930269" sldId="273"/>
        </pc:sldMkLst>
        <pc:spChg chg="del">
          <ac:chgData name="Schneider Miguel" userId="edc340df-3076-41de-a4cb-06d04631cff4" providerId="ADAL" clId="{B83A4F97-F95D-462C-8A14-C92DB3EE3C5A}" dt="2026-07-07T19:49:47.656" v="2024"/>
          <ac:spMkLst>
            <pc:docMk/>
            <pc:sldMk cId="4031930269" sldId="273"/>
            <ac:spMk id="2" creationId="{491ED1DA-59B5-AA66-C75E-0FD856C23D49}"/>
          </ac:spMkLst>
        </pc:spChg>
        <pc:spChg chg="mod">
          <ac:chgData name="Schneider Miguel" userId="edc340df-3076-41de-a4cb-06d04631cff4" providerId="ADAL" clId="{B83A4F97-F95D-462C-8A14-C92DB3EE3C5A}" dt="2026-07-07T19:49:17.802" v="2023" actId="20577"/>
          <ac:spMkLst>
            <pc:docMk/>
            <pc:sldMk cId="4031930269" sldId="273"/>
            <ac:spMk id="3" creationId="{FDD2AE4D-A73E-2FB7-EF99-F2D90389DE06}"/>
          </ac:spMkLst>
        </pc:spChg>
        <pc:spChg chg="add mod">
          <ac:chgData name="Schneider Miguel" userId="edc340df-3076-41de-a4cb-06d04631cff4" providerId="ADAL" clId="{B83A4F97-F95D-462C-8A14-C92DB3EE3C5A}" dt="2026-07-07T19:50:51.175" v="2048" actId="113"/>
          <ac:spMkLst>
            <pc:docMk/>
            <pc:sldMk cId="4031930269" sldId="273"/>
            <ac:spMk id="6" creationId="{3BC087FF-1BF6-2684-8A4C-754A7AB044A1}"/>
          </ac:spMkLst>
        </pc:spChg>
        <pc:graphicFrameChg chg="add del mod modGraphic">
          <ac:chgData name="Schneider Miguel" userId="edc340df-3076-41de-a4cb-06d04631cff4" providerId="ADAL" clId="{B83A4F97-F95D-462C-8A14-C92DB3EE3C5A}" dt="2026-07-07T19:50:30.717" v="2027" actId="21"/>
          <ac:graphicFrameMkLst>
            <pc:docMk/>
            <pc:sldMk cId="4031930269" sldId="273"/>
            <ac:graphicFrameMk id="4" creationId="{FFC20C35-91C5-0474-280D-847075207E74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7-07T19:50:54.406" v="2049" actId="113"/>
          <ac:graphicFrameMkLst>
            <pc:docMk/>
            <pc:sldMk cId="4031930269" sldId="273"/>
            <ac:graphicFrameMk id="7" creationId="{FFC20C35-91C5-0474-280D-847075207E74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7-07T19:52:04.250" v="2067" actId="1076"/>
          <ac:graphicFrameMkLst>
            <pc:docMk/>
            <pc:sldMk cId="4031930269" sldId="273"/>
            <ac:graphicFrameMk id="8" creationId="{2E37DFA5-6D3E-66F7-F152-DC752CDAA263}"/>
          </ac:graphicFrameMkLst>
        </pc:graphicFrameChg>
      </pc:sldChg>
      <pc:sldChg chg="addSp modSp new mod modClrScheme addAnim delAnim modAnim chgLayout">
        <pc:chgData name="Schneider Miguel" userId="edc340df-3076-41de-a4cb-06d04631cff4" providerId="ADAL" clId="{B83A4F97-F95D-462C-8A14-C92DB3EE3C5A}" dt="2026-07-07T19:56:23.994" v="2104"/>
        <pc:sldMkLst>
          <pc:docMk/>
          <pc:sldMk cId="2505149442" sldId="274"/>
        </pc:sldMkLst>
        <pc:spChg chg="mod">
          <ac:chgData name="Schneider Miguel" userId="edc340df-3076-41de-a4cb-06d04631cff4" providerId="ADAL" clId="{B83A4F97-F95D-462C-8A14-C92DB3EE3C5A}" dt="2026-07-07T19:54:34.040" v="2092" actId="26606"/>
          <ac:spMkLst>
            <pc:docMk/>
            <pc:sldMk cId="2505149442" sldId="274"/>
            <ac:spMk id="2" creationId="{C2E92AD9-81B4-32EC-99FF-7DECCE1701D0}"/>
          </ac:spMkLst>
        </pc:spChg>
        <pc:spChg chg="mod">
          <ac:chgData name="Schneider Miguel" userId="edc340df-3076-41de-a4cb-06d04631cff4" providerId="ADAL" clId="{B83A4F97-F95D-462C-8A14-C92DB3EE3C5A}" dt="2026-07-07T19:54:34.040" v="2092" actId="26606"/>
          <ac:spMkLst>
            <pc:docMk/>
            <pc:sldMk cId="2505149442" sldId="274"/>
            <ac:spMk id="3" creationId="{FD7694E9-32A6-2711-39D9-1B166D2835F6}"/>
          </ac:spMkLst>
        </pc:spChg>
        <pc:graphicFrameChg chg="add mod modGraphic">
          <ac:chgData name="Schneider Miguel" userId="edc340df-3076-41de-a4cb-06d04631cff4" providerId="ADAL" clId="{B83A4F97-F95D-462C-8A14-C92DB3EE3C5A}" dt="2026-07-07T19:55:13.802" v="2095" actId="1076"/>
          <ac:graphicFrameMkLst>
            <pc:docMk/>
            <pc:sldMk cId="2505149442" sldId="274"/>
            <ac:graphicFrameMk id="4" creationId="{CDE731AF-327D-C4A9-20A1-EB319D36EB99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7-07T19:56:15.990" v="2102" actId="1076"/>
          <ac:graphicFrameMkLst>
            <pc:docMk/>
            <pc:sldMk cId="2505149442" sldId="274"/>
            <ac:graphicFrameMk id="5" creationId="{08B6ED15-5EF0-3C31-6C8C-B9A378C5C5C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F78FE7E-4A94-4C1D-336C-F7A1CA5868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369913-F08E-D3E7-ECD6-E99C2C838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025CC8-DBAC-45E7-AD35-11370B714878}" type="datetimeFigureOut">
              <a:rPr lang="de-CH"/>
              <a:pPr>
                <a:defRPr/>
              </a:pPr>
              <a:t>07.07.2026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CB38F3-134B-372B-E6AF-342BCC104C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A58738-00A3-65A6-EFBE-DF695CBC7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C29B158-E64C-4D8E-B5AC-0C2D6B9F6D13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4921D97-3126-36A0-5AE3-6406196D03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46F9DC-84B6-F3BD-1880-4D022F6938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CDF97E7D-E8A9-4A31-9C91-51B970C502AB}" type="datetimeFigureOut">
              <a:rPr lang="de-CH"/>
              <a:pPr>
                <a:defRPr/>
              </a:pPr>
              <a:t>07.07.2026</a:t>
            </a:fld>
            <a:endParaRPr lang="de-CH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D3B7B3C5-8B2A-BF22-339C-7F96F4861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D81DAB0F-5680-952F-9177-B9A300BF9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472FB5-EF6B-EDE0-29AC-9099B00FB2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892CF-964F-5085-8F4B-5D83241DB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A1B0ADD9-F871-476F-B63E-6EC9D946EA54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E16CEAAF-CF7C-BFDC-C7FC-882CB3716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AE8A7F48-844D-1EC1-B47B-722EB3F76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CF9092E2-5223-A8C1-3064-BB14BF0A5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CH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E06F-6BFA-51C4-757E-E05AFB6D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56B382E7-3961-B65E-DD70-E80216658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A0981527-0153-A651-E575-86FDCBAA5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E8D9A773-174B-955B-CF16-70D7EA5D58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78549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0FA5-352D-5924-EBC7-0BFFCCCE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9045F8F6-047C-8C07-91F5-4C9156029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8793780D-9E95-2F22-B10D-2DCD59AEA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43A89547-D26F-0F38-7746-DD77CE0EA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521162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5867-4733-2BA6-5AD3-D829FB97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8E6FDEC6-DAD8-990B-DDFB-9CC201344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E02F694C-44D5-9A5F-7FC5-A4DB71B47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8E43CAFA-F1D7-C46E-D15D-69216E494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218193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CH" dirty="0"/>
              <a:t>Pro Semester wurde ein Repo erstellt.</a:t>
            </a:r>
          </a:p>
          <a:p>
            <a:pPr marL="228600" indent="-228600">
              <a:buAutoNum type="arabicPeriod"/>
            </a:pPr>
            <a:r>
              <a:rPr lang="de-CH" dirty="0"/>
              <a:t>Durch fortlaufende Verbesserungen, wurde bei jedem Semester die Repo Struktur verbessert, </a:t>
            </a:r>
            <a:br>
              <a:rPr lang="de-CH" dirty="0"/>
            </a:br>
            <a:r>
              <a:rPr lang="de-CH" dirty="0"/>
              <a:t>Negativ: Uneinheitliche Doku/Struktur </a:t>
            </a:r>
          </a:p>
          <a:p>
            <a:pPr marL="228600" indent="-228600">
              <a:buAutoNum type="arabicPeriod"/>
            </a:pPr>
            <a:r>
              <a:rPr lang="de-CH" dirty="0"/>
              <a:t>Entwickler arbeiten bei uns mit GitHub und Supporter mit Teams und SharePoint</a:t>
            </a:r>
          </a:p>
          <a:p>
            <a:pPr marL="228600" indent="-228600">
              <a:buAutoNum type="arabicPeriod"/>
            </a:pPr>
            <a:r>
              <a:rPr lang="de-CH" dirty="0"/>
              <a:t>Fokus auf Entwicklungen geht verloren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2299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EFB7-4892-88E6-8492-A4EE8A88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DDD5B3-8664-E6AC-BC17-8EB866AAF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D3494E-CC67-8147-0484-97A29EEC0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1735A9-940B-DF2B-FFAC-560EF508F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273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CH" dirty="0"/>
              <a:t>Verwendung einer lokalen Umgebung</a:t>
            </a:r>
          </a:p>
          <a:p>
            <a:pPr marL="228600" indent="-228600">
              <a:buAutoNum type="arabicPeriod"/>
            </a:pPr>
            <a:r>
              <a:rPr lang="de-DE" dirty="0"/>
              <a:t>Definition klarer Evaluationskriterien (z. B. Funktionalität, Integrationsfähigkeit, Aufwand)</a:t>
            </a:r>
          </a:p>
          <a:p>
            <a:pPr marL="228600" indent="-228600">
              <a:buAutoNum type="arabicPeriod"/>
            </a:pPr>
            <a:r>
              <a:rPr lang="de-DE" dirty="0"/>
              <a:t>Analyse und Vereinheitlichung der Repository-Strukturen </a:t>
            </a:r>
          </a:p>
          <a:p>
            <a:pPr marL="228600" indent="-228600">
              <a:buAutoNum type="arabicPeriod"/>
            </a:pPr>
            <a:r>
              <a:rPr lang="de-DE" dirty="0"/>
              <a:t>Fokus auf Proof </a:t>
            </a:r>
            <a:r>
              <a:rPr lang="de-DE" dirty="0" err="1"/>
              <a:t>of</a:t>
            </a:r>
            <a:r>
              <a:rPr lang="de-DE" dirty="0"/>
              <a:t> Concept, Priorisierung der Kernfunktionen, optionale Features nur bei genügend Zeit </a:t>
            </a:r>
          </a:p>
          <a:p>
            <a:pPr marL="228600" indent="-228600">
              <a:buAutoNum type="arabicPeriod"/>
            </a:pPr>
            <a:r>
              <a:rPr lang="de-DE" dirty="0" err="1"/>
              <a:t>Ausschliesslich</a:t>
            </a:r>
            <a:r>
              <a:rPr lang="de-DE" dirty="0"/>
              <a:t> lokaler Betrieb, keine öffentliche Freigabe, Zugriffsbeschränkung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8983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nehme es jetzt… sortiert. Nicht geschüttelt.“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259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DF90-D83C-1500-B8B4-498009C0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D911C8-DDCE-8656-7E97-8B36A1516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71BB06-E97F-AE27-7C95-8ECD5B569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Merci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F650CD-0A42-3BCC-E9F4-C7EAB461A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3215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541E389-ED1D-A804-AA72-D6A9271DE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18847"/>
          <a:stretch>
            <a:fillRect/>
          </a:stretch>
        </p:blipFill>
        <p:spPr>
          <a:xfrm>
            <a:off x="0" y="0"/>
            <a:ext cx="12209996" cy="3844925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F96058B-0431-3E54-0615-9C1BCB6C8EBC}"/>
              </a:ext>
            </a:extLst>
          </p:cNvPr>
          <p:cNvSpPr/>
          <p:nvPr userDrawn="1"/>
        </p:nvSpPr>
        <p:spPr>
          <a:xfrm>
            <a:off x="469900" y="0"/>
            <a:ext cx="2667000" cy="2109788"/>
          </a:xfrm>
          <a:custGeom>
            <a:avLst/>
            <a:gdLst>
              <a:gd name="connsiteX0" fmla="*/ 371211 w 2667000"/>
              <a:gd name="connsiteY0" fmla="*/ 0 h 2110022"/>
              <a:gd name="connsiteX1" fmla="*/ 2295790 w 2667000"/>
              <a:gd name="connsiteY1" fmla="*/ 0 h 2110022"/>
              <a:gd name="connsiteX2" fmla="*/ 2362494 w 2667000"/>
              <a:gd name="connsiteY2" fmla="*/ 68671 h 2110022"/>
              <a:gd name="connsiteX3" fmla="*/ 2667000 w 2667000"/>
              <a:gd name="connsiteY3" fmla="*/ 862323 h 2110022"/>
              <a:gd name="connsiteX4" fmla="*/ 1333500 w 2667000"/>
              <a:gd name="connsiteY4" fmla="*/ 2110022 h 2110022"/>
              <a:gd name="connsiteX5" fmla="*/ 0 w 2667000"/>
              <a:gd name="connsiteY5" fmla="*/ 862323 h 2110022"/>
              <a:gd name="connsiteX6" fmla="*/ 304507 w 2667000"/>
              <a:gd name="connsiteY6" fmla="*/ 68671 h 21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110022">
                <a:moveTo>
                  <a:pt x="371211" y="0"/>
                </a:moveTo>
                <a:lnTo>
                  <a:pt x="2295790" y="0"/>
                </a:lnTo>
                <a:lnTo>
                  <a:pt x="2362494" y="68671"/>
                </a:lnTo>
                <a:cubicBezTo>
                  <a:pt x="2552725" y="284347"/>
                  <a:pt x="2667000" y="560848"/>
                  <a:pt x="2667000" y="862323"/>
                </a:cubicBezTo>
                <a:cubicBezTo>
                  <a:pt x="2667000" y="1551408"/>
                  <a:pt x="2069972" y="2110022"/>
                  <a:pt x="1333500" y="2110022"/>
                </a:cubicBezTo>
                <a:cubicBezTo>
                  <a:pt x="597028" y="2110022"/>
                  <a:pt x="0" y="1551408"/>
                  <a:pt x="0" y="862323"/>
                </a:cubicBezTo>
                <a:cubicBezTo>
                  <a:pt x="0" y="560848"/>
                  <a:pt x="114275" y="284347"/>
                  <a:pt x="304507" y="68671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rgbClr val="B100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BA6F662-67CD-B7AB-9A6E-D1C0F522FC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333375"/>
            <a:ext cx="19748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39350" y="4365105"/>
            <a:ext cx="11713301" cy="893961"/>
          </a:xfrm>
          <a:prstGeom prst="rect">
            <a:avLst/>
          </a:prstGeom>
        </p:spPr>
        <p:txBody>
          <a:bodyPr/>
          <a:lstStyle>
            <a:lvl1pPr algn="l">
              <a:defRPr sz="3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39350" y="5301208"/>
            <a:ext cx="11713301" cy="1032520"/>
          </a:xfrm>
        </p:spPr>
        <p:txBody>
          <a:bodyPr>
            <a:normAutofit/>
          </a:bodyPr>
          <a:lstStyle>
            <a:lvl1pPr marL="0" indent="0" algn="l">
              <a:buNone/>
              <a:defRPr sz="1400" baseline="0">
                <a:solidFill>
                  <a:srgbClr val="B2005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27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B2005E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5060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tter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59008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109590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324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E51EA5F-C594-DE02-7A04-269D3C62A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35023"/>
          <a:stretch>
            <a:fillRect/>
          </a:stretch>
        </p:blipFill>
        <p:spPr>
          <a:xfrm>
            <a:off x="-8998" y="1268414"/>
            <a:ext cx="12209996" cy="26654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2900" b="0" cap="all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32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030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325484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293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3503712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723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51584" y="5085184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51584" y="1412777"/>
            <a:ext cx="7315200" cy="360283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CH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51584" y="566124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444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D35A210-F531-061A-6B2C-A7BC48C75B8A}"/>
              </a:ext>
            </a:extLst>
          </p:cNvPr>
          <p:cNvSpPr/>
          <p:nvPr userDrawn="1"/>
        </p:nvSpPr>
        <p:spPr>
          <a:xfrm>
            <a:off x="0" y="6611938"/>
            <a:ext cx="12192000" cy="246062"/>
          </a:xfrm>
          <a:prstGeom prst="rect">
            <a:avLst/>
          </a:prstGeom>
          <a:solidFill>
            <a:srgbClr val="B2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13CFC831-B0DA-0E2C-DAC1-E781ED8F2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  <a:endParaRPr lang="de-CH" altLang="de-DE"/>
          </a:p>
        </p:txBody>
      </p:sp>
      <p:sp>
        <p:nvSpPr>
          <p:cNvPr id="1028" name="Textfeld 7">
            <a:extLst>
              <a:ext uri="{FF2B5EF4-FFF2-40B4-BE49-F238E27FC236}">
                <a16:creationId xmlns:a16="http://schemas.microsoft.com/office/drawing/2014/main" id="{243DD268-273D-B496-EC5B-BD4C0657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1938"/>
            <a:ext cx="619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D12456F-F033-46EC-BDBF-E80F6422B89E}" type="slidenum">
              <a:rPr lang="de-CH" altLang="de-DE" sz="1000">
                <a:solidFill>
                  <a:schemeClr val="bg1"/>
                </a:solidFill>
                <a:latin typeface="Zurich LtCn BT" panose="020B0406020202040204" pitchFamily="34" charset="0"/>
              </a:rPr>
              <a:pPr eaLnBrk="1" hangingPunct="1"/>
              <a:t>‹Nr.›</a:t>
            </a:fld>
            <a:endParaRPr lang="de-CH" altLang="de-DE" sz="1000">
              <a:solidFill>
                <a:schemeClr val="bg1"/>
              </a:solidFill>
              <a:latin typeface="Zurich LtCn BT" panose="020B0406020202040204" pitchFamily="34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34CAF86-C4AA-3723-209C-97FCC9A6ED8D}"/>
              </a:ext>
            </a:extLst>
          </p:cNvPr>
          <p:cNvCxnSpPr/>
          <p:nvPr userDrawn="1"/>
        </p:nvCxnSpPr>
        <p:spPr>
          <a:xfrm>
            <a:off x="0" y="836613"/>
            <a:ext cx="12192000" cy="0"/>
          </a:xfrm>
          <a:prstGeom prst="line">
            <a:avLst/>
          </a:prstGeom>
          <a:ln>
            <a:solidFill>
              <a:srgbClr val="B2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Grafik 13" descr="Ein Bild, das Zeichnung, Uhr, Schild enthält.&#10;&#10;Automatisch generierte Beschreibung">
            <a:extLst>
              <a:ext uri="{FF2B5EF4-FFF2-40B4-BE49-F238E27FC236}">
                <a16:creationId xmlns:a16="http://schemas.microsoft.com/office/drawing/2014/main" id="{C6797A92-08C7-8AAE-D397-B7E3CC890D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4" r="40219"/>
          <a:stretch>
            <a:fillRect/>
          </a:stretch>
        </p:blipFill>
        <p:spPr bwMode="auto">
          <a:xfrm>
            <a:off x="309563" y="188913"/>
            <a:ext cx="11064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2" r:id="rId3"/>
    <p:sldLayoutId id="2147483668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B2005E"/>
          </a:solidFill>
          <a:latin typeface="Zurich Cn BT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EF19E4-A504-C0BB-15C3-BC417CBE24B3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C7E8554C-D606-EEEB-722B-3175EEE6C3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A2C557E0-B747-982D-A904-782CC1EDF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1616386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br>
              <a:rPr lang="de-DE" sz="6000" i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21B3-9BDF-BFFD-942B-DF144F8FA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B3FBBB-C072-D4ED-C4C9-210CBC219E10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A68580DF-A5CC-557D-5411-3FC90B2213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773F411C-C9EF-94D0-6DF4-8CF5AF6DAE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1616386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b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Chaos pur</a:t>
            </a: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1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1D7A-E488-E2BA-044D-1EF54424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2D8EF41-0A81-8AD8-E6F2-3FFADBFED820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D233FC7-9C83-925E-A9F3-0B9EA685C1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1203BE44-1DFC-E8F4-A048-9940B6AE81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2036564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Chaos pur</a:t>
            </a:r>
            <a:br>
              <a:rPr lang="de-DE" sz="6000" i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de-DE" sz="6000" i="1" dirty="0">
                <a:solidFill>
                  <a:srgbClr val="D4AF37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geschüttelt, nicht sortiert.</a:t>
            </a: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4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9E4F-E4E6-4B97-5496-27A4232B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4278D36C-8B88-C6B1-9A80-37BCAF8A9A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4365625"/>
            <a:ext cx="11712575" cy="10795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CH" dirty="0"/>
              <a:t>Semesterarbeit 5</a:t>
            </a:r>
            <a:br>
              <a:rPr lang="de-CH" dirty="0"/>
            </a:br>
            <a:r>
              <a:rPr lang="de-CH" dirty="0"/>
              <a:t>PoC: </a:t>
            </a:r>
            <a:r>
              <a:rPr lang="de-CH" dirty="0" err="1"/>
              <a:t>Kubernetes</a:t>
            </a:r>
            <a:r>
              <a:rPr lang="de-CH" dirty="0"/>
              <a:t>-basierter Developer Hub</a:t>
            </a:r>
            <a:endParaRPr lang="de-CH" altLang="de-DE" dirty="0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EBADA7C-B089-07C8-B189-97E61B9B8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/>
            </a:br>
            <a:endParaRPr lang="de-CH" altLang="de-DE"/>
          </a:p>
          <a:p>
            <a:endParaRPr lang="de-CH" altLang="de-DE"/>
          </a:p>
        </p:txBody>
      </p:sp>
      <p:sp>
        <p:nvSpPr>
          <p:cNvPr id="6148" name="Untertitel 2">
            <a:extLst>
              <a:ext uri="{FF2B5EF4-FFF2-40B4-BE49-F238E27FC236}">
                <a16:creationId xmlns:a16="http://schemas.microsoft.com/office/drawing/2014/main" id="{1322B7DA-7A16-59E9-1BA3-DAF590BC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5343525"/>
            <a:ext cx="11714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de-DE" altLang="de-DE" sz="1400" dirty="0">
              <a:solidFill>
                <a:srgbClr val="B2005E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Mittwoch, 06. Mai 2026</a:t>
            </a:r>
            <a:br>
              <a:rPr lang="de-CH" altLang="de-DE" sz="1400" dirty="0">
                <a:solidFill>
                  <a:srgbClr val="B2005E"/>
                </a:solidFill>
              </a:rPr>
            </a:br>
            <a:r>
              <a:rPr lang="de-CH" altLang="de-DE" sz="1400" dirty="0">
                <a:solidFill>
                  <a:srgbClr val="B2005E"/>
                </a:solidFill>
              </a:rPr>
              <a:t>Zürich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Miguel Schneider, miguel.schneider@iseag.ch</a:t>
            </a:r>
          </a:p>
        </p:txBody>
      </p:sp>
    </p:spTree>
    <p:extLst>
      <p:ext uri="{BB962C8B-B14F-4D97-AF65-F5344CB8AC3E}">
        <p14:creationId xmlns:p14="http://schemas.microsoft.com/office/powerpoint/2010/main" val="2162806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505236-933B-53AB-1BC9-890596D2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Ausgangslage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75F0F0D-FFCA-7A87-48CB-2285BD340B69}"/>
              </a:ext>
            </a:extLst>
          </p:cNvPr>
          <p:cNvGrpSpPr/>
          <p:nvPr/>
        </p:nvGrpSpPr>
        <p:grpSpPr>
          <a:xfrm>
            <a:off x="612810" y="1252330"/>
            <a:ext cx="2547113" cy="3565958"/>
            <a:chOff x="612810" y="1252330"/>
            <a:chExt cx="2547113" cy="3565958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B109BAA2-090F-5FB5-E44F-19A643E23F74}"/>
                </a:ext>
              </a:extLst>
            </p:cNvPr>
            <p:cNvSpPr/>
            <p:nvPr/>
          </p:nvSpPr>
          <p:spPr>
            <a:xfrm>
              <a:off x="612810" y="1252330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5" rIns="198583" bIns="401518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Verteilte </a:t>
              </a:r>
              <a:r>
                <a:rPr lang="de-DE" sz="1900" kern="1200" dirty="0" err="1"/>
                <a:t>Repositories</a:t>
              </a:r>
              <a:r>
                <a:rPr lang="de-DE" sz="1900" kern="1200" dirty="0"/>
                <a:t> aus mehreren Semestern</a:t>
              </a:r>
              <a:endParaRPr lang="en-US" sz="1900" kern="120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247D732-EDA2-7CBD-2BD3-F0679C9D6D0A}"/>
                </a:ext>
              </a:extLst>
            </p:cNvPr>
            <p:cNvSpPr/>
            <p:nvPr/>
          </p:nvSpPr>
          <p:spPr>
            <a:xfrm>
              <a:off x="1351473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91C396E4-96D5-C659-9795-BE85B405870D}"/>
                </a:ext>
              </a:extLst>
            </p:cNvPr>
            <p:cNvSpPr/>
            <p:nvPr/>
          </p:nvSpPr>
          <p:spPr>
            <a:xfrm>
              <a:off x="612810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2B3676E-277E-3045-097C-8D9B4627FA39}"/>
              </a:ext>
            </a:extLst>
          </p:cNvPr>
          <p:cNvGrpSpPr/>
          <p:nvPr/>
        </p:nvGrpSpPr>
        <p:grpSpPr>
          <a:xfrm>
            <a:off x="3414635" y="1249977"/>
            <a:ext cx="2547113" cy="3565958"/>
            <a:chOff x="3414635" y="1249977"/>
            <a:chExt cx="2547113" cy="3565958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9263F11-AC9A-27A8-C4AA-53E10EDAA37F}"/>
                </a:ext>
              </a:extLst>
            </p:cNvPr>
            <p:cNvSpPr/>
            <p:nvPr/>
          </p:nvSpPr>
          <p:spPr>
            <a:xfrm>
              <a:off x="3414635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Uneinheitliche Dokumentation</a:t>
              </a:r>
              <a:endParaRPr lang="en-US" sz="1900" kern="1200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41A24EA5-B46B-475D-2C4C-72B3F0610893}"/>
                </a:ext>
              </a:extLst>
            </p:cNvPr>
            <p:cNvSpPr/>
            <p:nvPr/>
          </p:nvSpPr>
          <p:spPr>
            <a:xfrm>
              <a:off x="4153297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2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3ECB5A3-AE1A-5DB5-F223-958A21D3C1E0}"/>
                </a:ext>
              </a:extLst>
            </p:cNvPr>
            <p:cNvSpPr/>
            <p:nvPr/>
          </p:nvSpPr>
          <p:spPr>
            <a:xfrm>
              <a:off x="3414635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E943FC0A-354C-1DC2-6F8A-606B44E7F0C1}"/>
              </a:ext>
            </a:extLst>
          </p:cNvPr>
          <p:cNvGrpSpPr/>
          <p:nvPr/>
        </p:nvGrpSpPr>
        <p:grpSpPr>
          <a:xfrm>
            <a:off x="6216459" y="1249977"/>
            <a:ext cx="2547113" cy="3565958"/>
            <a:chOff x="6216459" y="1249977"/>
            <a:chExt cx="2547113" cy="3565958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60F2E88-6EFE-A396-8EE5-6FDB20D97A65}"/>
                </a:ext>
              </a:extLst>
            </p:cNvPr>
            <p:cNvSpPr/>
            <p:nvPr/>
          </p:nvSpPr>
          <p:spPr>
            <a:xfrm>
              <a:off x="6216459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/>
                <a:t>Kein gemeinsamer Zugriffspunkt für Entwicklerressourcen</a:t>
              </a:r>
              <a:endParaRPr lang="en-US" sz="1900" kern="120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F6EF6740-9302-F0F3-11D9-59D2342FFE5A}"/>
                </a:ext>
              </a:extLst>
            </p:cNvPr>
            <p:cNvSpPr/>
            <p:nvPr/>
          </p:nvSpPr>
          <p:spPr>
            <a:xfrm>
              <a:off x="6955122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C5C1793-6ADF-8352-1420-1E0AFF8D2258}"/>
                </a:ext>
              </a:extLst>
            </p:cNvPr>
            <p:cNvSpPr/>
            <p:nvPr/>
          </p:nvSpPr>
          <p:spPr>
            <a:xfrm>
              <a:off x="6216459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275CC50-B593-DF60-9FA7-28FDA8952EF6}"/>
              </a:ext>
            </a:extLst>
          </p:cNvPr>
          <p:cNvGrpSpPr/>
          <p:nvPr/>
        </p:nvGrpSpPr>
        <p:grpSpPr>
          <a:xfrm>
            <a:off x="9018284" y="1249977"/>
            <a:ext cx="2547113" cy="3565958"/>
            <a:chOff x="9018284" y="1249977"/>
            <a:chExt cx="2547113" cy="3565958"/>
          </a:xfrm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50ADC2D6-B8C2-D6F1-8CC2-1D5295A32DE1}"/>
                </a:ext>
              </a:extLst>
            </p:cNvPr>
            <p:cNvSpPr/>
            <p:nvPr/>
          </p:nvSpPr>
          <p:spPr>
            <a:xfrm>
              <a:off x="9018284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Bestehende Arbeiten werden kaum genutzt oder weiterentwickelt</a:t>
              </a:r>
              <a:endParaRPr lang="en-US" sz="1900" kern="1200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11DEA5A2-0EC9-44BD-AC76-C93EF0E11444}"/>
                </a:ext>
              </a:extLst>
            </p:cNvPr>
            <p:cNvSpPr/>
            <p:nvPr/>
          </p:nvSpPr>
          <p:spPr>
            <a:xfrm>
              <a:off x="9756946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4561C2A4-AFF4-372D-1875-B8DAE3FDCEE5}"/>
                </a:ext>
              </a:extLst>
            </p:cNvPr>
            <p:cNvSpPr/>
            <p:nvPr/>
          </p:nvSpPr>
          <p:spPr>
            <a:xfrm>
              <a:off x="9018284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305422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EAA3-A18B-50C5-F2F3-EA7F825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80957A2-D771-E74B-362A-6F68AC44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Ausgangslage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5442B92-5CCF-DC28-DB10-1165622CFE56}"/>
              </a:ext>
            </a:extLst>
          </p:cNvPr>
          <p:cNvGrpSpPr/>
          <p:nvPr/>
        </p:nvGrpSpPr>
        <p:grpSpPr>
          <a:xfrm>
            <a:off x="612810" y="1252330"/>
            <a:ext cx="2547113" cy="3565958"/>
            <a:chOff x="612810" y="1252330"/>
            <a:chExt cx="2547113" cy="3565958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738791E-1607-88D0-8339-E3E58D94536F}"/>
                </a:ext>
              </a:extLst>
            </p:cNvPr>
            <p:cNvSpPr/>
            <p:nvPr/>
          </p:nvSpPr>
          <p:spPr>
            <a:xfrm>
              <a:off x="612810" y="1252330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5" rIns="198583" bIns="401518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Verteilte </a:t>
              </a:r>
              <a:r>
                <a:rPr lang="de-DE" sz="1900" kern="1200" dirty="0" err="1"/>
                <a:t>Repositories</a:t>
              </a:r>
              <a:r>
                <a:rPr lang="de-DE" sz="1900" kern="1200" dirty="0"/>
                <a:t> aus mehreren Semestern</a:t>
              </a:r>
              <a:endParaRPr lang="en-US" sz="1900" kern="120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B2A887BE-A166-3921-44AC-455BC98987AE}"/>
                </a:ext>
              </a:extLst>
            </p:cNvPr>
            <p:cNvSpPr/>
            <p:nvPr/>
          </p:nvSpPr>
          <p:spPr>
            <a:xfrm>
              <a:off x="1351473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E6BA0B5C-75DE-72D1-29DA-9A8FC6474930}"/>
                </a:ext>
              </a:extLst>
            </p:cNvPr>
            <p:cNvSpPr/>
            <p:nvPr/>
          </p:nvSpPr>
          <p:spPr>
            <a:xfrm>
              <a:off x="612810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4E69FCDC-1C49-36F8-1B45-6D424B136132}"/>
              </a:ext>
            </a:extLst>
          </p:cNvPr>
          <p:cNvGrpSpPr/>
          <p:nvPr/>
        </p:nvGrpSpPr>
        <p:grpSpPr>
          <a:xfrm>
            <a:off x="3414635" y="1249977"/>
            <a:ext cx="2547113" cy="3565958"/>
            <a:chOff x="3414635" y="1249977"/>
            <a:chExt cx="2547113" cy="3565958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6E9B92B7-C969-B226-8BC5-14221A78B9A1}"/>
                </a:ext>
              </a:extLst>
            </p:cNvPr>
            <p:cNvSpPr/>
            <p:nvPr/>
          </p:nvSpPr>
          <p:spPr>
            <a:xfrm>
              <a:off x="3414635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Uneinheitliche Dokumentation</a:t>
              </a:r>
              <a:endParaRPr lang="en-US" sz="1900" kern="1200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4600BB81-3E4F-8A81-3472-73F0FDEAC7B2}"/>
                </a:ext>
              </a:extLst>
            </p:cNvPr>
            <p:cNvSpPr/>
            <p:nvPr/>
          </p:nvSpPr>
          <p:spPr>
            <a:xfrm>
              <a:off x="4153297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2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078CFE48-0B87-28B1-1440-F8D7132D48D8}"/>
                </a:ext>
              </a:extLst>
            </p:cNvPr>
            <p:cNvSpPr/>
            <p:nvPr/>
          </p:nvSpPr>
          <p:spPr>
            <a:xfrm>
              <a:off x="3414635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B6FA0DD-012A-CE07-D663-21E8AC7A44B3}"/>
              </a:ext>
            </a:extLst>
          </p:cNvPr>
          <p:cNvGrpSpPr/>
          <p:nvPr/>
        </p:nvGrpSpPr>
        <p:grpSpPr>
          <a:xfrm>
            <a:off x="6216459" y="1249977"/>
            <a:ext cx="2547113" cy="3565958"/>
            <a:chOff x="6216459" y="1249977"/>
            <a:chExt cx="2547113" cy="3565958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2B98E168-8F55-933F-224D-D2D9739430F4}"/>
                </a:ext>
              </a:extLst>
            </p:cNvPr>
            <p:cNvSpPr/>
            <p:nvPr/>
          </p:nvSpPr>
          <p:spPr>
            <a:xfrm>
              <a:off x="6216459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/>
                <a:t>Kein gemeinsamer Zugriffspunkt für Entwicklerressourcen</a:t>
              </a:r>
              <a:endParaRPr lang="en-US" sz="1900" kern="120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18F3037-A82C-0870-C351-0E563A6ADBA6}"/>
                </a:ext>
              </a:extLst>
            </p:cNvPr>
            <p:cNvSpPr/>
            <p:nvPr/>
          </p:nvSpPr>
          <p:spPr>
            <a:xfrm>
              <a:off x="6955122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019F3D75-A550-99B8-7748-83998B770B67}"/>
                </a:ext>
              </a:extLst>
            </p:cNvPr>
            <p:cNvSpPr/>
            <p:nvPr/>
          </p:nvSpPr>
          <p:spPr>
            <a:xfrm>
              <a:off x="6216459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A0F69B4-6EC8-47AB-F204-DA5C7964644E}"/>
              </a:ext>
            </a:extLst>
          </p:cNvPr>
          <p:cNvGrpSpPr/>
          <p:nvPr/>
        </p:nvGrpSpPr>
        <p:grpSpPr>
          <a:xfrm>
            <a:off x="9018284" y="1249977"/>
            <a:ext cx="2547113" cy="3565958"/>
            <a:chOff x="9018284" y="1249977"/>
            <a:chExt cx="2547113" cy="3565958"/>
          </a:xfrm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040E985E-3E9D-D7A4-153D-ABBB54AA0B27}"/>
                </a:ext>
              </a:extLst>
            </p:cNvPr>
            <p:cNvSpPr/>
            <p:nvPr/>
          </p:nvSpPr>
          <p:spPr>
            <a:xfrm>
              <a:off x="9018284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Bestehende Arbeiten werden kaum genutzt oder weiterentwickelt</a:t>
              </a:r>
              <a:endParaRPr lang="en-US" sz="1900" kern="1200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4EB1BEE9-8E8A-979F-D87F-2D63A362B3D9}"/>
                </a:ext>
              </a:extLst>
            </p:cNvPr>
            <p:cNvSpPr/>
            <p:nvPr/>
          </p:nvSpPr>
          <p:spPr>
            <a:xfrm>
              <a:off x="9756946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13113241-4C47-A2A0-C636-E0E53EFA15C1}"/>
                </a:ext>
              </a:extLst>
            </p:cNvPr>
            <p:cNvSpPr/>
            <p:nvPr/>
          </p:nvSpPr>
          <p:spPr>
            <a:xfrm>
              <a:off x="9018284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C1169C1-A888-7F2F-FBFB-6E644D0E77A4}"/>
              </a:ext>
            </a:extLst>
          </p:cNvPr>
          <p:cNvSpPr/>
          <p:nvPr/>
        </p:nvSpPr>
        <p:spPr>
          <a:xfrm>
            <a:off x="609600" y="5013176"/>
            <a:ext cx="2534072" cy="792088"/>
          </a:xfrm>
          <a:prstGeom prst="roundRect">
            <a:avLst/>
          </a:prstGeom>
          <a:solidFill>
            <a:srgbClr val="B2005E"/>
          </a:solidFill>
          <a:ln>
            <a:solidFill>
              <a:srgbClr val="B200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Kein zentraler Überblick</a:t>
            </a:r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3D9B60E-57E2-2023-0510-0092ADCC12D8}"/>
              </a:ext>
            </a:extLst>
          </p:cNvPr>
          <p:cNvSpPr/>
          <p:nvPr/>
        </p:nvSpPr>
        <p:spPr>
          <a:xfrm>
            <a:off x="3431704" y="5013176"/>
            <a:ext cx="2534072" cy="792088"/>
          </a:xfrm>
          <a:prstGeom prst="roundRect">
            <a:avLst/>
          </a:prstGeom>
          <a:solidFill>
            <a:srgbClr val="B2005E"/>
          </a:solidFill>
          <a:ln>
            <a:solidFill>
              <a:srgbClr val="B200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hangingPunct="1">
              <a:spcBef>
                <a:spcPct val="30000"/>
              </a:spcBef>
              <a:defRPr/>
            </a:pPr>
            <a:r>
              <a:rPr lang="de-DE" sz="1600" dirty="0"/>
              <a:t>Schwer verständlich &amp; kaum wiederverwendbar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262699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5E3F09-1829-2AC5-1B0B-C519741C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Zielbild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ED357F9-4307-0B9D-79D3-21F112235B9D}"/>
              </a:ext>
            </a:extLst>
          </p:cNvPr>
          <p:cNvGrpSpPr/>
          <p:nvPr/>
        </p:nvGrpSpPr>
        <p:grpSpPr>
          <a:xfrm>
            <a:off x="726408" y="2811399"/>
            <a:ext cx="2373300" cy="2103564"/>
            <a:chOff x="726408" y="2811399"/>
            <a:chExt cx="2373300" cy="210356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4A833E95-650C-18B8-E1FB-7FB3623601B4}"/>
                </a:ext>
              </a:extLst>
            </p:cNvPr>
            <p:cNvSpPr/>
            <p:nvPr/>
          </p:nvSpPr>
          <p:spPr>
            <a:xfrm>
              <a:off x="1379066" y="2811399"/>
              <a:ext cx="1067985" cy="1067985"/>
            </a:xfrm>
            <a:prstGeom prst="rect">
              <a:avLst/>
            </a:prstGeom>
            <a:blipFill dpi="0"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AF968F8A-3D82-E6A0-4216-CF4C130F0E5C}"/>
                </a:ext>
              </a:extLst>
            </p:cNvPr>
            <p:cNvSpPr/>
            <p:nvPr/>
          </p:nvSpPr>
          <p:spPr>
            <a:xfrm>
              <a:off x="726408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Zentrale Plattform für alle Entwicklerressourcen</a:t>
              </a:r>
              <a:endParaRPr lang="en-US" kern="1200" dirty="0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E025929-6C2E-6E3E-E9E1-AFECCBF45885}"/>
              </a:ext>
            </a:extLst>
          </p:cNvPr>
          <p:cNvGrpSpPr/>
          <p:nvPr/>
        </p:nvGrpSpPr>
        <p:grpSpPr>
          <a:xfrm>
            <a:off x="3515036" y="2811399"/>
            <a:ext cx="2373300" cy="2103564"/>
            <a:chOff x="3515036" y="2811399"/>
            <a:chExt cx="2373300" cy="2103564"/>
          </a:xfrm>
        </p:grpSpPr>
        <p:sp>
          <p:nvSpPr>
            <p:cNvPr id="10" name="Rechteck 9" descr="Open Folder">
              <a:extLst>
                <a:ext uri="{FF2B5EF4-FFF2-40B4-BE49-F238E27FC236}">
                  <a16:creationId xmlns:a16="http://schemas.microsoft.com/office/drawing/2014/main" id="{E56DC3EE-A7FE-047E-5E0F-4A4FBC6AD97C}"/>
                </a:ext>
              </a:extLst>
            </p:cNvPr>
            <p:cNvSpPr/>
            <p:nvPr/>
          </p:nvSpPr>
          <p:spPr>
            <a:xfrm>
              <a:off x="4167693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BE6B4AF-DDB4-E982-2576-064DA8B89181}"/>
                </a:ext>
              </a:extLst>
            </p:cNvPr>
            <p:cNvSpPr/>
            <p:nvPr/>
          </p:nvSpPr>
          <p:spPr>
            <a:xfrm>
              <a:off x="3515036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Einheitlicher Zugriff auf Projekte &amp; Dokumentation</a:t>
              </a:r>
              <a:endParaRPr lang="en-US" kern="1200" dirty="0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876D0EF-0027-2B3E-4449-AAE202F6708D}"/>
              </a:ext>
            </a:extLst>
          </p:cNvPr>
          <p:cNvGrpSpPr/>
          <p:nvPr/>
        </p:nvGrpSpPr>
        <p:grpSpPr>
          <a:xfrm>
            <a:off x="6303663" y="2811399"/>
            <a:ext cx="2373300" cy="2103564"/>
            <a:chOff x="6303663" y="2811399"/>
            <a:chExt cx="2373300" cy="2103564"/>
          </a:xfrm>
        </p:grpSpPr>
        <p:sp>
          <p:nvSpPr>
            <p:cNvPr id="12" name="Rechteck 11" descr="Tabelle">
              <a:extLst>
                <a:ext uri="{FF2B5EF4-FFF2-40B4-BE49-F238E27FC236}">
                  <a16:creationId xmlns:a16="http://schemas.microsoft.com/office/drawing/2014/main" id="{6CEE8393-966C-0105-A2C8-E7514B2478FE}"/>
                </a:ext>
              </a:extLst>
            </p:cNvPr>
            <p:cNvSpPr/>
            <p:nvPr/>
          </p:nvSpPr>
          <p:spPr>
            <a:xfrm>
              <a:off x="6956321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751F161-018A-6F66-373C-B9DD4891C8A4}"/>
                </a:ext>
              </a:extLst>
            </p:cNvPr>
            <p:cNvSpPr/>
            <p:nvPr/>
          </p:nvSpPr>
          <p:spPr>
            <a:xfrm>
              <a:off x="6303663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Strukturierte und wiederverwendbare Repository-Sammlung</a:t>
              </a:r>
              <a:endParaRPr lang="en-US" kern="1200" dirty="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EA84D65-D9D9-7526-0EE6-5B1ECE845575}"/>
              </a:ext>
            </a:extLst>
          </p:cNvPr>
          <p:cNvGrpSpPr/>
          <p:nvPr/>
        </p:nvGrpSpPr>
        <p:grpSpPr>
          <a:xfrm>
            <a:off x="9092291" y="2811399"/>
            <a:ext cx="2373300" cy="2103564"/>
            <a:chOff x="9092291" y="2811399"/>
            <a:chExt cx="2373300" cy="2103564"/>
          </a:xfrm>
        </p:grpSpPr>
        <p:sp>
          <p:nvSpPr>
            <p:cNvPr id="14" name="Rechteck 13" descr="Markierung">
              <a:extLst>
                <a:ext uri="{FF2B5EF4-FFF2-40B4-BE49-F238E27FC236}">
                  <a16:creationId xmlns:a16="http://schemas.microsoft.com/office/drawing/2014/main" id="{3FC4AB4E-DDB2-39C7-6084-00CD61B6D804}"/>
                </a:ext>
              </a:extLst>
            </p:cNvPr>
            <p:cNvSpPr/>
            <p:nvPr/>
          </p:nvSpPr>
          <p:spPr>
            <a:xfrm>
              <a:off x="9744948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4CB3131-E4CF-9B05-EC2A-13C561AE07CB}"/>
                </a:ext>
              </a:extLst>
            </p:cNvPr>
            <p:cNvSpPr/>
            <p:nvPr/>
          </p:nvSpPr>
          <p:spPr>
            <a:xfrm>
              <a:off x="9092291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Geschützte, lokal betriebene Umgebung</a:t>
              </a:r>
              <a:endParaRPr lang="en-US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120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CA12E9-8771-D19B-FCF6-58981E6C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Ziele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927BA99-26C6-7008-E9D5-47068AEB854D}"/>
              </a:ext>
            </a:extLst>
          </p:cNvPr>
          <p:cNvGrpSpPr/>
          <p:nvPr/>
        </p:nvGrpSpPr>
        <p:grpSpPr>
          <a:xfrm>
            <a:off x="1775520" y="1415571"/>
            <a:ext cx="8762406" cy="730512"/>
            <a:chOff x="2063552" y="1600775"/>
            <a:chExt cx="8762406" cy="73051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C3C47194-FF7D-B634-0FEF-40341D2FE02E}"/>
                </a:ext>
              </a:extLst>
            </p:cNvPr>
            <p:cNvSpPr/>
            <p:nvPr/>
          </p:nvSpPr>
          <p:spPr>
            <a:xfrm>
              <a:off x="3529046" y="1600775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1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Aufbau eines lokalen </a:t>
              </a:r>
              <a:r>
                <a:rPr lang="de-CH" sz="2200" kern="1200" dirty="0" err="1"/>
                <a:t>Kubernetes</a:t>
              </a:r>
              <a:r>
                <a:rPr lang="de-CH" sz="2200" kern="1200" dirty="0"/>
                <a:t>-Clusters (z. B. </a:t>
              </a:r>
              <a:r>
                <a:rPr lang="de-CH" sz="2200" kern="1200" dirty="0" err="1"/>
                <a:t>Minikube</a:t>
              </a:r>
              <a:r>
                <a:rPr lang="de-CH" sz="2200" kern="1200" dirty="0"/>
                <a:t>)</a:t>
              </a:r>
              <a:endParaRPr lang="en-US" sz="2200" kern="1200" dirty="0"/>
            </a:p>
          </p:txBody>
        </p:sp>
        <p:sp>
          <p:nvSpPr>
            <p:cNvPr id="8" name="Ellipse 7" descr="Kennzeichen mit einfarbiger Füllung">
              <a:extLst>
                <a:ext uri="{FF2B5EF4-FFF2-40B4-BE49-F238E27FC236}">
                  <a16:creationId xmlns:a16="http://schemas.microsoft.com/office/drawing/2014/main" id="{2D061C71-BA79-694C-0B2F-6C27CD8FEB5C}"/>
                </a:ext>
              </a:extLst>
            </p:cNvPr>
            <p:cNvSpPr/>
            <p:nvPr/>
          </p:nvSpPr>
          <p:spPr>
            <a:xfrm>
              <a:off x="2063552" y="1600776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F681D7E-4769-2875-389B-0BEEEB4CE992}"/>
              </a:ext>
            </a:extLst>
          </p:cNvPr>
          <p:cNvGrpSpPr/>
          <p:nvPr/>
        </p:nvGrpSpPr>
        <p:grpSpPr>
          <a:xfrm>
            <a:off x="695400" y="2286240"/>
            <a:ext cx="9842344" cy="730512"/>
            <a:chOff x="1631504" y="2556717"/>
            <a:chExt cx="9842344" cy="730512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4F91C1D-0BD9-DBEC-7FFD-7B581BB5B5EB}"/>
                </a:ext>
              </a:extLst>
            </p:cNvPr>
            <p:cNvSpPr/>
            <p:nvPr/>
          </p:nvSpPr>
          <p:spPr>
            <a:xfrm>
              <a:off x="4176936" y="2556717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1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Evaluation und Auswahl eines geeigneten Developer Hubs</a:t>
              </a:r>
              <a:endParaRPr lang="en-US" sz="2200" kern="1200" dirty="0"/>
            </a:p>
          </p:txBody>
        </p:sp>
        <p:sp>
          <p:nvSpPr>
            <p:cNvPr id="10" name="Ellipse 9" descr="Kennzeichen mit einfarbiger Füllung">
              <a:extLst>
                <a:ext uri="{FF2B5EF4-FFF2-40B4-BE49-F238E27FC236}">
                  <a16:creationId xmlns:a16="http://schemas.microsoft.com/office/drawing/2014/main" id="{9146CC57-41F6-0982-F8AF-A4F309B0703B}"/>
                </a:ext>
              </a:extLst>
            </p:cNvPr>
            <p:cNvSpPr/>
            <p:nvPr/>
          </p:nvSpPr>
          <p:spPr>
            <a:xfrm>
              <a:off x="1631504" y="255671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1392945-1301-63FF-45BE-CE7E0A1B67F7}"/>
              </a:ext>
            </a:extLst>
          </p:cNvPr>
          <p:cNvGrpSpPr/>
          <p:nvPr/>
        </p:nvGrpSpPr>
        <p:grpSpPr>
          <a:xfrm>
            <a:off x="2500523" y="3153436"/>
            <a:ext cx="8027422" cy="730511"/>
            <a:chOff x="2212491" y="3512282"/>
            <a:chExt cx="8027422" cy="730511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FCE747D-E41C-37ED-9F4B-A5D5C3B4E43C}"/>
                </a:ext>
              </a:extLst>
            </p:cNvPr>
            <p:cNvSpPr/>
            <p:nvPr/>
          </p:nvSpPr>
          <p:spPr>
            <a:xfrm>
              <a:off x="2943001" y="351228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 err="1"/>
                <a:t>Deployment</a:t>
              </a:r>
              <a:r>
                <a:rPr lang="de-CH" sz="2200" kern="1200" dirty="0"/>
                <a:t> des Developer Hubs im Cluster</a:t>
              </a:r>
              <a:endParaRPr lang="en-US" sz="2200" kern="1200" dirty="0"/>
            </a:p>
          </p:txBody>
        </p:sp>
        <p:sp>
          <p:nvSpPr>
            <p:cNvPr id="12" name="Ellipse 11" descr="Kennzeichen mit einfarbiger Füllung">
              <a:extLst>
                <a:ext uri="{FF2B5EF4-FFF2-40B4-BE49-F238E27FC236}">
                  <a16:creationId xmlns:a16="http://schemas.microsoft.com/office/drawing/2014/main" id="{23482FD3-E286-C5A6-9420-F6B8AD21FE19}"/>
                </a:ext>
              </a:extLst>
            </p:cNvPr>
            <p:cNvSpPr/>
            <p:nvPr/>
          </p:nvSpPr>
          <p:spPr>
            <a:xfrm>
              <a:off x="2212491" y="351228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555F2C0-EA70-EE95-BAF4-321A2EF9A37D}"/>
              </a:ext>
            </a:extLst>
          </p:cNvPr>
          <p:cNvGrpSpPr/>
          <p:nvPr/>
        </p:nvGrpSpPr>
        <p:grpSpPr>
          <a:xfrm>
            <a:off x="1874984" y="4020631"/>
            <a:ext cx="8652961" cy="730511"/>
            <a:chOff x="1264323" y="4446498"/>
            <a:chExt cx="8652961" cy="730511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7F839BB-8A68-F416-28D1-6119EC52CE71}"/>
                </a:ext>
              </a:extLst>
            </p:cNvPr>
            <p:cNvSpPr/>
            <p:nvPr/>
          </p:nvSpPr>
          <p:spPr>
            <a:xfrm>
              <a:off x="2620372" y="4446498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Integration von mindestens 4 bestehenden </a:t>
              </a:r>
              <a:r>
                <a:rPr lang="de-CH" sz="2200" kern="1200" dirty="0" err="1"/>
                <a:t>Repositories</a:t>
              </a:r>
              <a:endParaRPr lang="en-US" sz="2200" kern="1200" dirty="0"/>
            </a:p>
          </p:txBody>
        </p:sp>
        <p:sp>
          <p:nvSpPr>
            <p:cNvPr id="14" name="Ellipse 13" descr="Kennzeichen mit einfarbiger Füllung">
              <a:extLst>
                <a:ext uri="{FF2B5EF4-FFF2-40B4-BE49-F238E27FC236}">
                  <a16:creationId xmlns:a16="http://schemas.microsoft.com/office/drawing/2014/main" id="{FF1EA47E-5BFF-221E-5B35-9854A385D2F2}"/>
                </a:ext>
              </a:extLst>
            </p:cNvPr>
            <p:cNvSpPr/>
            <p:nvPr/>
          </p:nvSpPr>
          <p:spPr>
            <a:xfrm>
              <a:off x="1264323" y="444649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12BAFDA-891E-223F-B507-D105CECC40C8}"/>
              </a:ext>
            </a:extLst>
          </p:cNvPr>
          <p:cNvGrpSpPr/>
          <p:nvPr/>
        </p:nvGrpSpPr>
        <p:grpSpPr>
          <a:xfrm>
            <a:off x="1199456" y="5208583"/>
            <a:ext cx="9346349" cy="730511"/>
            <a:chOff x="580734" y="5395072"/>
            <a:chExt cx="9346349" cy="730511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AC7F683E-4AAF-29AE-524B-C4707DBC4364}"/>
                </a:ext>
              </a:extLst>
            </p:cNvPr>
            <p:cNvSpPr/>
            <p:nvPr/>
          </p:nvSpPr>
          <p:spPr>
            <a:xfrm>
              <a:off x="2630171" y="539507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Dokumentation &amp; optionale KI-Evaluierung</a:t>
              </a:r>
              <a:endParaRPr lang="en-US" sz="2200" kern="1200" dirty="0"/>
            </a:p>
          </p:txBody>
        </p:sp>
        <p:sp>
          <p:nvSpPr>
            <p:cNvPr id="16" name="Ellipse 15" descr="Kennzeichen mit einfarbiger Füllung">
              <a:extLst>
                <a:ext uri="{FF2B5EF4-FFF2-40B4-BE49-F238E27FC236}">
                  <a16:creationId xmlns:a16="http://schemas.microsoft.com/office/drawing/2014/main" id="{28D4492B-DECB-5609-CBEF-A00FAAF69B66}"/>
                </a:ext>
              </a:extLst>
            </p:cNvPr>
            <p:cNvSpPr/>
            <p:nvPr/>
          </p:nvSpPr>
          <p:spPr>
            <a:xfrm>
              <a:off x="580734" y="539507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6242EEA-8ED1-F16D-A887-6AB2015F844C}"/>
              </a:ext>
            </a:extLst>
          </p:cNvPr>
          <p:cNvGrpSpPr/>
          <p:nvPr/>
        </p:nvGrpSpPr>
        <p:grpSpPr>
          <a:xfrm>
            <a:off x="-27542" y="1052736"/>
            <a:ext cx="3725574" cy="5594920"/>
            <a:chOff x="-27542" y="1052736"/>
            <a:chExt cx="3725574" cy="5594920"/>
          </a:xfrm>
        </p:grpSpPr>
        <p:pic>
          <p:nvPicPr>
            <p:cNvPr id="25" name="Grafik 24" descr="Markierung mit einfarbiger Füllung">
              <a:extLst>
                <a:ext uri="{FF2B5EF4-FFF2-40B4-BE49-F238E27FC236}">
                  <a16:creationId xmlns:a16="http://schemas.microsoft.com/office/drawing/2014/main" id="{01B3FE67-7EF0-AE7A-BBC8-DDB6942F98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3632" y="5733256"/>
              <a:ext cx="914400" cy="914400"/>
            </a:xfrm>
            <a:prstGeom prst="rect">
              <a:avLst/>
            </a:prstGeom>
          </p:spPr>
        </p:pic>
        <p:pic>
          <p:nvPicPr>
            <p:cNvPr id="26" name="Grafik 25" descr="Markierung mit einfarbiger Füllung">
              <a:extLst>
                <a:ext uri="{FF2B5EF4-FFF2-40B4-BE49-F238E27FC236}">
                  <a16:creationId xmlns:a16="http://schemas.microsoft.com/office/drawing/2014/main" id="{2E7474D2-40A1-F746-BB69-1A62E0EEB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7542" y="1052736"/>
              <a:ext cx="914400" cy="914400"/>
            </a:xfrm>
            <a:prstGeom prst="rect">
              <a:avLst/>
            </a:prstGeom>
          </p:spPr>
        </p:pic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8880F422-7414-D46A-D27B-9E535DEA0264}"/>
                </a:ext>
              </a:extLst>
            </p:cNvPr>
            <p:cNvSpPr/>
            <p:nvPr/>
          </p:nvSpPr>
          <p:spPr>
            <a:xfrm>
              <a:off x="429658" y="1828800"/>
              <a:ext cx="2941512" cy="4682169"/>
            </a:xfrm>
            <a:custGeom>
              <a:avLst/>
              <a:gdLst>
                <a:gd name="csX0" fmla="*/ 0 w 2941512"/>
                <a:gd name="csY0" fmla="*/ 0 h 4682169"/>
                <a:gd name="csX1" fmla="*/ 2434728 w 2941512"/>
                <a:gd name="csY1" fmla="*/ 583894 h 4682169"/>
                <a:gd name="csX2" fmla="*/ 187287 w 2941512"/>
                <a:gd name="csY2" fmla="*/ 1244906 h 4682169"/>
                <a:gd name="csX3" fmla="*/ 2269475 w 2941512"/>
                <a:gd name="csY3" fmla="*/ 1938969 h 4682169"/>
                <a:gd name="csX4" fmla="*/ 473725 w 2941512"/>
                <a:gd name="csY4" fmla="*/ 2555913 h 4682169"/>
                <a:gd name="csX5" fmla="*/ 2941503 w 2941512"/>
                <a:gd name="csY5" fmla="*/ 3183875 h 4682169"/>
                <a:gd name="csX6" fmla="*/ 506776 w 2941512"/>
                <a:gd name="csY6" fmla="*/ 3723701 h 4682169"/>
                <a:gd name="csX7" fmla="*/ 2798284 w 2941512"/>
                <a:gd name="csY7" fmla="*/ 4682169 h 4682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41512" h="4682169">
                  <a:moveTo>
                    <a:pt x="0" y="0"/>
                  </a:moveTo>
                  <a:cubicBezTo>
                    <a:pt x="1201756" y="188205"/>
                    <a:pt x="2403513" y="376410"/>
                    <a:pt x="2434728" y="583894"/>
                  </a:cubicBezTo>
                  <a:cubicBezTo>
                    <a:pt x="2465943" y="791378"/>
                    <a:pt x="214829" y="1019060"/>
                    <a:pt x="187287" y="1244906"/>
                  </a:cubicBezTo>
                  <a:cubicBezTo>
                    <a:pt x="159745" y="1470752"/>
                    <a:pt x="2221735" y="1720468"/>
                    <a:pt x="2269475" y="1938969"/>
                  </a:cubicBezTo>
                  <a:cubicBezTo>
                    <a:pt x="2317215" y="2157470"/>
                    <a:pt x="361720" y="2348429"/>
                    <a:pt x="473725" y="2555913"/>
                  </a:cubicBezTo>
                  <a:cubicBezTo>
                    <a:pt x="585730" y="2763397"/>
                    <a:pt x="2935995" y="2989244"/>
                    <a:pt x="2941503" y="3183875"/>
                  </a:cubicBezTo>
                  <a:cubicBezTo>
                    <a:pt x="2947011" y="3378506"/>
                    <a:pt x="530646" y="3473985"/>
                    <a:pt x="506776" y="3723701"/>
                  </a:cubicBezTo>
                  <a:cubicBezTo>
                    <a:pt x="482906" y="3973417"/>
                    <a:pt x="1640595" y="4327793"/>
                    <a:pt x="2798284" y="4682169"/>
                  </a:cubicBezTo>
                </a:path>
              </a:pathLst>
            </a:custGeom>
            <a:noFill/>
            <a:ln>
              <a:solidFill>
                <a:srgbClr val="B2005E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2116258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A8EC397-A060-9E5D-C655-6C8F17AD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Risiken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F107C7F-06CD-AD7B-3BFB-965B0695E823}"/>
              </a:ext>
            </a:extLst>
          </p:cNvPr>
          <p:cNvGrpSpPr/>
          <p:nvPr/>
        </p:nvGrpSpPr>
        <p:grpSpPr>
          <a:xfrm>
            <a:off x="2483459" y="1265583"/>
            <a:ext cx="8027422" cy="730512"/>
            <a:chOff x="2485170" y="1486822"/>
            <a:chExt cx="8027422" cy="73051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6B1E94B3-B3C1-A3DE-E341-C5911EB12BDB}"/>
                </a:ext>
              </a:extLst>
            </p:cNvPr>
            <p:cNvSpPr/>
            <p:nvPr/>
          </p:nvSpPr>
          <p:spPr>
            <a:xfrm>
              <a:off x="3215680" y="1486822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1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 err="1"/>
                <a:t>Kubernetes</a:t>
              </a:r>
              <a:r>
                <a:rPr lang="de-CH" sz="2100" b="1" kern="1200" dirty="0"/>
                <a:t>-Komplexität </a:t>
              </a:r>
              <a:r>
                <a:rPr lang="de-CH" sz="2100" kern="1200" dirty="0"/>
                <a:t>→ mögliche Verzögerungen</a:t>
              </a:r>
              <a:endParaRPr lang="en-US" sz="2100" kern="1200" dirty="0"/>
            </a:p>
          </p:txBody>
        </p:sp>
        <p:sp>
          <p:nvSpPr>
            <p:cNvPr id="8" name="Ellipse 7" descr="Blitz mit einfarbiger Füllung">
              <a:extLst>
                <a:ext uri="{FF2B5EF4-FFF2-40B4-BE49-F238E27FC236}">
                  <a16:creationId xmlns:a16="http://schemas.microsoft.com/office/drawing/2014/main" id="{B394CF99-2DED-914A-7E62-73A184070A7D}"/>
                </a:ext>
              </a:extLst>
            </p:cNvPr>
            <p:cNvSpPr/>
            <p:nvPr/>
          </p:nvSpPr>
          <p:spPr>
            <a:xfrm>
              <a:off x="2485170" y="1486824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B709446-B468-90A7-4EDD-0AF09EB522AE}"/>
              </a:ext>
            </a:extLst>
          </p:cNvPr>
          <p:cNvGrpSpPr/>
          <p:nvPr/>
        </p:nvGrpSpPr>
        <p:grpSpPr>
          <a:xfrm>
            <a:off x="2488422" y="2200566"/>
            <a:ext cx="8022459" cy="730512"/>
            <a:chOff x="2483459" y="2505368"/>
            <a:chExt cx="8022459" cy="730512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DDF6A79-56CD-C182-2125-84E94F67960F}"/>
                </a:ext>
              </a:extLst>
            </p:cNvPr>
            <p:cNvSpPr/>
            <p:nvPr/>
          </p:nvSpPr>
          <p:spPr>
            <a:xfrm>
              <a:off x="3209006" y="2505368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1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Unklare Tool-Auswahl </a:t>
              </a:r>
              <a:r>
                <a:rPr lang="de-CH" sz="2100" kern="1200" dirty="0"/>
                <a:t>→ falscher Developer Hub</a:t>
              </a:r>
              <a:endParaRPr lang="en-US" sz="2100" kern="1200" dirty="0"/>
            </a:p>
          </p:txBody>
        </p:sp>
        <p:sp>
          <p:nvSpPr>
            <p:cNvPr id="10" name="Ellipse 9" descr="Klemmbrett nur Kreuze mit einfarbiger Füllung">
              <a:extLst>
                <a:ext uri="{FF2B5EF4-FFF2-40B4-BE49-F238E27FC236}">
                  <a16:creationId xmlns:a16="http://schemas.microsoft.com/office/drawing/2014/main" id="{2F14C127-88CE-9D04-A514-963734F021D8}"/>
                </a:ext>
              </a:extLst>
            </p:cNvPr>
            <p:cNvSpPr/>
            <p:nvPr/>
          </p:nvSpPr>
          <p:spPr>
            <a:xfrm>
              <a:off x="2483459" y="250536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71B5FE1-D7B4-727D-ED90-8E09D6DF1C24}"/>
              </a:ext>
            </a:extLst>
          </p:cNvPr>
          <p:cNvGrpSpPr/>
          <p:nvPr/>
        </p:nvGrpSpPr>
        <p:grpSpPr>
          <a:xfrm>
            <a:off x="2495399" y="3135547"/>
            <a:ext cx="8015482" cy="730511"/>
            <a:chOff x="2485027" y="3523912"/>
            <a:chExt cx="8015482" cy="730511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74A4B17-98B2-684D-4171-0387D08D95FD}"/>
                </a:ext>
              </a:extLst>
            </p:cNvPr>
            <p:cNvSpPr/>
            <p:nvPr/>
          </p:nvSpPr>
          <p:spPr>
            <a:xfrm>
              <a:off x="3203597" y="352391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Integration der </a:t>
              </a:r>
              <a:r>
                <a:rPr lang="de-CH" sz="2100" b="1" kern="1200" dirty="0" err="1"/>
                <a:t>Repositories</a:t>
              </a:r>
              <a:r>
                <a:rPr lang="de-CH" sz="2100" b="1" kern="1200" dirty="0"/>
                <a:t> </a:t>
              </a:r>
              <a:r>
                <a:rPr lang="de-CH" sz="2100" kern="1200" dirty="0"/>
                <a:t>→ unterschiedliche Strukturen</a:t>
              </a:r>
              <a:endParaRPr lang="en-US" sz="2100" kern="1200" dirty="0"/>
            </a:p>
          </p:txBody>
        </p:sp>
        <p:sp>
          <p:nvSpPr>
            <p:cNvPr id="12" name="Ellipse 11" descr="Zahnräder mit einfarbiger Füllung">
              <a:extLst>
                <a:ext uri="{FF2B5EF4-FFF2-40B4-BE49-F238E27FC236}">
                  <a16:creationId xmlns:a16="http://schemas.microsoft.com/office/drawing/2014/main" id="{676B0E24-D838-C1A7-1C67-EA9FDE046D71}"/>
                </a:ext>
              </a:extLst>
            </p:cNvPr>
            <p:cNvSpPr/>
            <p:nvPr/>
          </p:nvSpPr>
          <p:spPr>
            <a:xfrm>
              <a:off x="2485027" y="352391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537E4BE-0824-1606-61C0-03B3E7AE02F3}"/>
              </a:ext>
            </a:extLst>
          </p:cNvPr>
          <p:cNvGrpSpPr/>
          <p:nvPr/>
        </p:nvGrpSpPr>
        <p:grpSpPr>
          <a:xfrm>
            <a:off x="2473087" y="4070527"/>
            <a:ext cx="8027422" cy="735947"/>
            <a:chOff x="2473087" y="4537019"/>
            <a:chExt cx="8027422" cy="735947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A98054A1-3FB9-804A-FD61-8A6ED4295EB5}"/>
                </a:ext>
              </a:extLst>
            </p:cNvPr>
            <p:cNvSpPr/>
            <p:nvPr/>
          </p:nvSpPr>
          <p:spPr>
            <a:xfrm>
              <a:off x="3203597" y="4542455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Zeitmanagement</a:t>
              </a:r>
              <a:r>
                <a:rPr lang="de-CH" sz="2100" kern="1200" dirty="0"/>
                <a:t> → begrenzter Projektumfang</a:t>
              </a:r>
              <a:endParaRPr lang="en-US" sz="2100" kern="1200" dirty="0"/>
            </a:p>
          </p:txBody>
        </p:sp>
        <p:sp>
          <p:nvSpPr>
            <p:cNvPr id="14" name="Ellipse 13" descr="Tageskalender Silhouette">
              <a:extLst>
                <a:ext uri="{FF2B5EF4-FFF2-40B4-BE49-F238E27FC236}">
                  <a16:creationId xmlns:a16="http://schemas.microsoft.com/office/drawing/2014/main" id="{E058AA40-01F9-2F41-489F-B0983D64E86C}"/>
                </a:ext>
              </a:extLst>
            </p:cNvPr>
            <p:cNvSpPr/>
            <p:nvPr/>
          </p:nvSpPr>
          <p:spPr>
            <a:xfrm>
              <a:off x="2473087" y="4537019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D82EEFE-7128-644D-1D30-D221E577490D}"/>
              </a:ext>
            </a:extLst>
          </p:cNvPr>
          <p:cNvGrpSpPr/>
          <p:nvPr/>
        </p:nvGrpSpPr>
        <p:grpSpPr>
          <a:xfrm>
            <a:off x="2473087" y="5016379"/>
            <a:ext cx="8027422" cy="735946"/>
            <a:chOff x="2473087" y="5550125"/>
            <a:chExt cx="8027422" cy="735946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7A6CC5-22F9-13B5-C6DA-77BB65146355}"/>
                </a:ext>
              </a:extLst>
            </p:cNvPr>
            <p:cNvSpPr/>
            <p:nvPr/>
          </p:nvSpPr>
          <p:spPr>
            <a:xfrm>
              <a:off x="3203597" y="5550125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Datenschutz &amp; Sicherheit </a:t>
              </a:r>
              <a:r>
                <a:rPr lang="de-CH" sz="2100" kern="1200" dirty="0"/>
                <a:t>→ kontrollierter Zugriff notwendig</a:t>
              </a:r>
              <a:endParaRPr lang="en-US" sz="2100" kern="1200" dirty="0"/>
            </a:p>
          </p:txBody>
        </p:sp>
        <p:sp>
          <p:nvSpPr>
            <p:cNvPr id="16" name="Ellipse 15" descr="Polizist mit einfarbiger Füllung">
              <a:extLst>
                <a:ext uri="{FF2B5EF4-FFF2-40B4-BE49-F238E27FC236}">
                  <a16:creationId xmlns:a16="http://schemas.microsoft.com/office/drawing/2014/main" id="{EF84DECB-E9F6-D3D3-889C-1BCD98DB36B6}"/>
                </a:ext>
              </a:extLst>
            </p:cNvPr>
            <p:cNvSpPr/>
            <p:nvPr/>
          </p:nvSpPr>
          <p:spPr>
            <a:xfrm>
              <a:off x="2473087" y="5555561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627710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9598D5D-5EC8-AB09-46C2-7CD02C90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Backstage</a:t>
            </a:r>
          </a:p>
          <a:p>
            <a:r>
              <a:rPr lang="de-CH" dirty="0" err="1"/>
              <a:t>Red</a:t>
            </a:r>
            <a:r>
              <a:rPr lang="de-CH" dirty="0"/>
              <a:t> Hat Developer Hub (RHDH)</a:t>
            </a:r>
          </a:p>
          <a:p>
            <a:r>
              <a:rPr lang="de-CH" dirty="0"/>
              <a:t>Port</a:t>
            </a:r>
          </a:p>
          <a:p>
            <a:r>
              <a:rPr lang="de-CH" dirty="0"/>
              <a:t>Cortex</a:t>
            </a:r>
          </a:p>
          <a:p>
            <a:r>
              <a:rPr lang="de-CH" dirty="0" err="1"/>
              <a:t>OpsLevel</a:t>
            </a:r>
            <a:endParaRPr lang="de-CH" dirty="0"/>
          </a:p>
          <a:p>
            <a:r>
              <a:rPr lang="de-CH" dirty="0"/>
              <a:t>Atlassian Compass</a:t>
            </a:r>
          </a:p>
          <a:p>
            <a:r>
              <a:rPr lang="de-CH" dirty="0"/>
              <a:t>Harness Internal Developer Portal</a:t>
            </a:r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13FF75-03E6-B82D-E995-2684162B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48425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DD2AE4D-A73E-2FB7-EF99-F2D90389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C087FF-1BF6-2684-8A4C-754A7AB0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Grob-Evaluation</a:t>
            </a:r>
          </a:p>
          <a:p>
            <a:endParaRPr lang="de-CH" dirty="0"/>
          </a:p>
        </p:txBody>
      </p:sp>
      <p:graphicFrame>
        <p:nvGraphicFramePr>
          <p:cNvPr id="7" name="Inhaltsplatzhalter 3">
            <a:extLst>
              <a:ext uri="{FF2B5EF4-FFF2-40B4-BE49-F238E27FC236}">
                <a16:creationId xmlns:a16="http://schemas.microsoft.com/office/drawing/2014/main" id="{FFC20C35-91C5-0474-280D-847075207E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2423358"/>
              </p:ext>
            </p:extLst>
          </p:nvPr>
        </p:nvGraphicFramePr>
        <p:xfrm>
          <a:off x="609600" y="2420888"/>
          <a:ext cx="109728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1290583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121692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Kriterium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Begründung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02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Kubernetes-Unterstützung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Die Zielplattform basiert auf Kubernetes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138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Self-Hosting möglich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Betrieb soll lokal bzw. unter eigener Kontrolle erfolgen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224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Aktive Weiterentwicklung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Langfristige Zukunftssicherheit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12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Marktverbreitung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Relevanz und Akzeptanz in Unternehmen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405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Dokumentation verfügbar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Nachvollziehbarkeit und Implementierbarkeit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793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Unterstützung von Software-Katalogen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Zentrale Verwaltung von Projekten und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59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Erweiterbarkeit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Möglichkeit für spätere Integrationen (z. B. KI)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450317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E37DFA5-6D3E-66F7-F152-DC752CDAA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606443"/>
              </p:ext>
            </p:extLst>
          </p:nvPr>
        </p:nvGraphicFramePr>
        <p:xfrm>
          <a:off x="609600" y="2420888"/>
          <a:ext cx="109728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15234769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1389354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53358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Produkt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Ergebnis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Begründung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5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Backstage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Ausgewählt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Hohe Verbreitung, Kubernetes-Fokus, Self-Hosting und grosse Erweiterbarkeit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813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Red Hat Developer Hub (RHDH)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Ausgewählt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Enterprise-Variante von Backstage mit professionellem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985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Ausgewählt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Etablierte Developer-Portal-Lösung mit moderner Benutzeroberfläche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594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9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2E92AD9-81B4-32EC-99FF-7DECCE170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59008" cy="639762"/>
          </a:xfrm>
        </p:spPr>
        <p:txBody>
          <a:bodyPr wrap="square" anchor="b">
            <a:normAutofit/>
          </a:bodyPr>
          <a:lstStyle/>
          <a:p>
            <a:r>
              <a:rPr lang="de-CH" dirty="0"/>
              <a:t>Detail-Evaluation</a:t>
            </a:r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7694E9-32A6-2711-39D9-1B166D28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Evaluation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DE731AF-327D-C4A9-20A1-EB319D36E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42668"/>
              </p:ext>
            </p:extLst>
          </p:nvPr>
        </p:nvGraphicFramePr>
        <p:xfrm>
          <a:off x="637088" y="2060848"/>
          <a:ext cx="10959012" cy="313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1171">
                  <a:extLst>
                    <a:ext uri="{9D8B030D-6E8A-4147-A177-3AD203B41FA5}">
                      <a16:colId xmlns:a16="http://schemas.microsoft.com/office/drawing/2014/main" val="2270115702"/>
                    </a:ext>
                  </a:extLst>
                </a:gridCol>
                <a:gridCol w="1989882">
                  <a:extLst>
                    <a:ext uri="{9D8B030D-6E8A-4147-A177-3AD203B41FA5}">
                      <a16:colId xmlns:a16="http://schemas.microsoft.com/office/drawing/2014/main" val="858997212"/>
                    </a:ext>
                  </a:extLst>
                </a:gridCol>
                <a:gridCol w="1593318">
                  <a:extLst>
                    <a:ext uri="{9D8B030D-6E8A-4147-A177-3AD203B41FA5}">
                      <a16:colId xmlns:a16="http://schemas.microsoft.com/office/drawing/2014/main" val="390427642"/>
                    </a:ext>
                  </a:extLst>
                </a:gridCol>
                <a:gridCol w="1989882">
                  <a:extLst>
                    <a:ext uri="{9D8B030D-6E8A-4147-A177-3AD203B41FA5}">
                      <a16:colId xmlns:a16="http://schemas.microsoft.com/office/drawing/2014/main" val="2349082392"/>
                    </a:ext>
                  </a:extLst>
                </a:gridCol>
                <a:gridCol w="1537826">
                  <a:extLst>
                    <a:ext uri="{9D8B030D-6E8A-4147-A177-3AD203B41FA5}">
                      <a16:colId xmlns:a16="http://schemas.microsoft.com/office/drawing/2014/main" val="3770599935"/>
                    </a:ext>
                  </a:extLst>
                </a:gridCol>
                <a:gridCol w="1276933">
                  <a:extLst>
                    <a:ext uri="{9D8B030D-6E8A-4147-A177-3AD203B41FA5}">
                      <a16:colId xmlns:a16="http://schemas.microsoft.com/office/drawing/2014/main" val="2957874066"/>
                    </a:ext>
                  </a:extLst>
                </a:gridCol>
              </a:tblGrid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Kriterium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Gewichtung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Faktor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Backstage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RHDH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b="1" dirty="0"/>
                        <a:t>Port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2255694646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Kubernetes Integration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Hoch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3346740410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Self-Hosting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Hoch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3697967013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Erweiterbarkeit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Hoch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2381700855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Benutzerfreundlichkeit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Mittel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2668219434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Dokumentation &amp; Community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Mittel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2629618550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Enterprise-Funktionen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Mittel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2751671349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Betriebsaufwand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Mittel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3941256298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Kosten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Hoch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3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3519402895"/>
                  </a:ext>
                </a:extLst>
              </a:tr>
              <a:tr h="31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KI-Integration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Mittel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2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5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/>
                        <a:t>4</a:t>
                      </a:r>
                    </a:p>
                  </a:txBody>
                  <a:tcPr marL="71365" marR="71365" marT="35683" marB="35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400" dirty="0"/>
                        <a:t>3</a:t>
                      </a:r>
                    </a:p>
                  </a:txBody>
                  <a:tcPr marL="71365" marR="71365" marT="35683" marB="35683" anchor="ctr"/>
                </a:tc>
                <a:extLst>
                  <a:ext uri="{0D108BD9-81ED-4DB2-BD59-A6C34878D82A}">
                    <a16:rowId xmlns:a16="http://schemas.microsoft.com/office/drawing/2014/main" val="132027171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08B6ED15-5EF0-3C31-6C8C-B9A378C5C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69551"/>
              </p:ext>
            </p:extLst>
          </p:nvPr>
        </p:nvGraphicFramePr>
        <p:xfrm>
          <a:off x="609554" y="2060848"/>
          <a:ext cx="109728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17245895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15641343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849556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Plattform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Gesamtpunkte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Bewertung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47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0" dirty="0"/>
                        <a:t>Backstage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/>
                        <a:t>100 Punkte</a:t>
                      </a:r>
                      <a:endParaRPr lang="de-CH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/>
                        <a:t>Sehr gut geeignet</a:t>
                      </a:r>
                      <a:endParaRPr lang="de-CH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412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0"/>
                        <a:t>Red Hat Developer Hub (RHDH)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/>
                        <a:t>86 Punkte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Gut geeignet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0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0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/>
                        <a:t>73 Punkte</a:t>
                      </a:r>
                      <a:endParaRPr lang="de-CH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Geeignet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934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14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592E12-D42A-8F9A-3771-ED61ECAF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081224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FA5677C-B4CF-AB6D-8E77-8CC7234E5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Würden wir auf einen Dev-Hub umsteigen?</a:t>
            </a:r>
          </a:p>
          <a:p>
            <a:pPr lvl="1"/>
            <a:r>
              <a:rPr lang="de-CH" b="1" dirty="0"/>
              <a:t>Zurzeit nicht!</a:t>
            </a:r>
          </a:p>
          <a:p>
            <a:pPr lvl="2"/>
            <a:r>
              <a:rPr lang="de-CH" dirty="0"/>
              <a:t>Sehr grosser Zeitaufwand für Anpassung der Repos</a:t>
            </a:r>
          </a:p>
          <a:p>
            <a:pPr lvl="2"/>
            <a:r>
              <a:rPr lang="de-CH" dirty="0"/>
              <a:t>Hoher Schulungsaufwand</a:t>
            </a:r>
          </a:p>
          <a:p>
            <a:pPr lvl="3"/>
            <a:r>
              <a:rPr lang="de-CH" dirty="0"/>
              <a:t>Ältere Mitarbeiter (Wollen nichts neues lernen, da nur noch ca. 1-2 Jahre noch bleiben)</a:t>
            </a:r>
          </a:p>
          <a:p>
            <a:pPr lvl="2"/>
            <a:r>
              <a:rPr lang="de-CH" dirty="0"/>
              <a:t>Zentrale Prozesse müssen angepasst werden</a:t>
            </a:r>
          </a:p>
          <a:p>
            <a:pPr lvl="3"/>
            <a:r>
              <a:rPr lang="de-CH" dirty="0"/>
              <a:t>Widerstand seitens Entwicklung</a:t>
            </a:r>
          </a:p>
          <a:p>
            <a:pPr lvl="3"/>
            <a:endParaRPr lang="de-CH" dirty="0"/>
          </a:p>
          <a:p>
            <a:pPr lvl="1"/>
            <a:r>
              <a:rPr lang="de-CH" dirty="0"/>
              <a:t>Wahrscheinlichkeit grösser auf CRM umzusteigen als Dev-Hub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FB90FA1-BF0E-1098-A806-AA1CF306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06385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9DACD-B33E-A58B-D35C-42211EEA2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CH" sz="2800" b="1" dirty="0">
                <a:latin typeface="Viner Hand ITC" panose="03070502030502020203" pitchFamily="66" charset="0"/>
              </a:rPr>
              <a:t>"Wir bleiben im Chaos – aber um einige Erkenntnisse reicher."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E1E996-2388-72F5-9AC5-9874FCE99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7331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C2C9A-075F-7A9B-7CE9-F044B501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C25AD-50E0-14EC-09E5-62B1EB20B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Vielen Dank für eure Aufmerksamkeit!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6B151-AF18-AC6F-90C1-975D2DA9A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Habt ihr noch Fragen?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524AA00-A745-D9FE-020C-68C702930DC8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6501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ractur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0dd11dbc84844e623841b9d988f52e3f6c3e6"/>
</p:tagLst>
</file>

<file path=ppt/theme/theme1.xml><?xml version="1.0" encoding="utf-8"?>
<a:theme xmlns:a="http://schemas.openxmlformats.org/drawingml/2006/main" name="vorlage_iseag_sharepoint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94BFFB14-EC45-4CF3-B3D3-C427F2236913}" vid="{8BE920F8-CEFC-4424-9C2B-A7902A59F7D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C04FA0C3EA4C4EB79965F54D2B0AD9" ma:contentTypeVersion="11" ma:contentTypeDescription="Ein neues Dokument erstellen." ma:contentTypeScope="" ma:versionID="1a7d174cd5faf5ef6b054dddf0e89875">
  <xsd:schema xmlns:xsd="http://www.w3.org/2001/XMLSchema" xmlns:xs="http://www.w3.org/2001/XMLSchema" xmlns:p="http://schemas.microsoft.com/office/2006/metadata/properties" xmlns:ns2="e7ffa9ce-e981-4548-8a3e-faca0f49a4d8" xmlns:ns3="7be58b5b-80ee-492e-9755-b8415aeb0c6e" targetNamespace="http://schemas.microsoft.com/office/2006/metadata/properties" ma:root="true" ma:fieldsID="803790f66b3761d819889db172bfb3d4" ns2:_="" ns3:_="">
    <xsd:import namespace="e7ffa9ce-e981-4548-8a3e-faca0f49a4d8"/>
    <xsd:import namespace="7be58b5b-80ee-492e-9755-b8415aeb0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fa9ce-e981-4548-8a3e-faca0f49a4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58b5b-80ee-492e-9755-b8415aeb0c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023006-0748-4764-B283-7666ECC4D566}">
  <ds:schemaRefs>
    <ds:schemaRef ds:uri="http://schemas.microsoft.com/office/2006/metadata/properties"/>
    <ds:schemaRef ds:uri="http://schemas.microsoft.com/office/infopath/2007/PartnerControls"/>
    <ds:schemaRef ds:uri="7be58b5b-80ee-492e-9755-b8415aeb0c6e"/>
    <ds:schemaRef ds:uri="9f065a27-06bf-47ac-8c93-5e3e5607cd2c"/>
  </ds:schemaRefs>
</ds:datastoreItem>
</file>

<file path=customXml/itemProps2.xml><?xml version="1.0" encoding="utf-8"?>
<ds:datastoreItem xmlns:ds="http://schemas.openxmlformats.org/officeDocument/2006/customXml" ds:itemID="{2C86E0AB-C1DF-4A15-8074-DBDDB971A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A76868-AAE2-4F25-B452-7786FDB1DE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ffa9ce-e981-4548-8a3e-faca0f49a4d8"/>
    <ds:schemaRef ds:uri="7be58b5b-80ee-492e-9755-b8415aeb0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ISE AG_PowerPoint Vorlage_Berufsschule</Template>
  <TotalTime>0</TotalTime>
  <Words>570</Words>
  <Application>Microsoft Office PowerPoint</Application>
  <PresentationFormat>Breitbild</PresentationFormat>
  <Paragraphs>194</Paragraphs>
  <Slides>16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4" baseType="lpstr">
      <vt:lpstr>Viner Hand ITC</vt:lpstr>
      <vt:lpstr>Mongolian Baiti</vt:lpstr>
      <vt:lpstr>Arial</vt:lpstr>
      <vt:lpstr>Calibri</vt:lpstr>
      <vt:lpstr>Zurich LtCn BT</vt:lpstr>
      <vt:lpstr>Aptos</vt:lpstr>
      <vt:lpstr>Zurich Cn BT</vt:lpstr>
      <vt:lpstr>vorlage_iseag_sharepoint</vt:lpstr>
      <vt:lpstr> </vt:lpstr>
      <vt:lpstr> Chaos pur</vt:lpstr>
      <vt:lpstr>Chaos pur geschüttelt, nicht sortiert.</vt:lpstr>
      <vt:lpstr>Semesterarbeit 5 PoC: Kubernetes-basierter Developer Hub</vt:lpstr>
      <vt:lpstr>Ausgangslage</vt:lpstr>
      <vt:lpstr>Ausgangslage</vt:lpstr>
      <vt:lpstr>Zielbild</vt:lpstr>
      <vt:lpstr>Ziele</vt:lpstr>
      <vt:lpstr>Risiken</vt:lpstr>
      <vt:lpstr>Evaluation</vt:lpstr>
      <vt:lpstr>Evaluation</vt:lpstr>
      <vt:lpstr>Evaluation</vt:lpstr>
      <vt:lpstr>Demo</vt:lpstr>
      <vt:lpstr>Fazit</vt:lpstr>
      <vt:lpstr>"Wir bleiben im Chaos – aber um einige Erkenntnisse reicher."</vt:lpstr>
      <vt:lpstr>Vielen Dank für eure Aufmerksamkeit!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cp:lastPrinted>2020-03-18T06:37:58Z</cp:lastPrinted>
  <dcterms:created xsi:type="dcterms:W3CDTF">2026-05-05T13:02:41Z</dcterms:created>
  <dcterms:modified xsi:type="dcterms:W3CDTF">2026-07-07T19:56:24Z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0x010100F1C04FA0C3EA4C4EB79965F54D2B0AD9</vt:lpwstr>
  </property>
  <property fmtid="{D5CDD505-2E9C-101B-9397-08002B2CF9AE}" pid="3" name="_dlc_DocIdItemGuid">
    <vt:lpwstr>e69d5fd0-4d66-45c5-a98a-35a221ed5c0c</vt:lpwstr>
  </property>
  <property fmtid="{D5CDD505-2E9C-101B-9397-08002B2CF9AE}" pid="4" name="Metatags">
    <vt:lpwstr>1;#Kundendokument|fdf38da3-846a-4ae4-943e-b3158fd51a4c</vt:lpwstr>
  </property>
  <property fmtid="{D5CDD505-2E9C-101B-9397-08002B2CF9AE}" pid="5" name="Order">
    <vt:r8>1211300</vt:r8>
  </property>
  <property fmtid="{D5CDD505-2E9C-101B-9397-08002B2CF9AE}" pid="6" name="AuthorIds_UIVersion_1536">
    <vt:lpwstr>28</vt:lpwstr>
  </property>
  <property fmtid="{D5CDD505-2E9C-101B-9397-08002B2CF9AE}" pid="7" name="MediaServiceImageTags">
    <vt:lpwstr/>
  </property>
</Properties>
</file>